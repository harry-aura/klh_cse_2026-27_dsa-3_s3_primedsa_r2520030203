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4x3"/>
  <p:notesSz cx="6858000" cy="9144000"/>
  <p:embeddedFontLst>
    <p:embeddedFont>
      <p:font typeface="Calibri" panose="020F0502020204030204" charset="0"/>
      <p:regular r:id="rId14"/>
      <p:bold r:id="rId15"/>
      <p:italic r:id="rId16"/>
      <p:boldItalic r:id="rId17"/>
    </p:embeddedFont>
    <p:embeddedFont>
      <p:font typeface="Microsoft YaHei" panose="020B0503020204020204" charset="-122"/>
      <p:regular r:id="rId18"/>
      <p:bold r:id="rId19"/>
    </p:embeddedFont>
    <p:embeddedFont>
      <p:font typeface="Arial Black" panose="020B0A04020102020204" charset="0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4034730"/>
            <a:ext cx="112014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5705475"/>
            <a:ext cx="11201400" cy="885825"/>
          </a:xfrm>
          <a:prstGeom prst="roundRect">
            <a:avLst>
              <a:gd name="adj" fmla="val 8602"/>
            </a:avLst>
          </a:prstGeom>
          <a:solidFill>
            <a:srgbClr val="FD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05975" y="395287"/>
            <a:ext cx="1990725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350" y="376237"/>
            <a:ext cx="3705225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76350" y="376237"/>
            <a:ext cx="19050" cy="3143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81250" y="6029325"/>
            <a:ext cx="9525" cy="3429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2712" y="4301430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2" y="4301430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162" y="4301430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23850"/>
            <a:ext cx="62865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4177605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912" y="4177605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7137" y="4177605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4177605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5300" y="1975544"/>
            <a:ext cx="2856230" cy="1504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i="0" u="none">
                <a:solidFill>
                  <a:srgbClr val="A3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PROBABILISTIC ALGORITHM IMPLEMENTATION</a:t>
            </a:r>
            <a:endParaRPr sz="975" i="0" u="none">
              <a:solidFill>
                <a:srgbClr val="A3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5300" y="2185094"/>
            <a:ext cx="510286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2043"/>
                </a:solidFill>
                <a:latin typeface="Arial Black" panose="020B0A04020102020204" charset="0"/>
                <a:cs typeface="Arial Black" panose="020B0A04020102020204" charset="0"/>
              </a:rPr>
              <a:t>Prime Check Web Service</a:t>
            </a:r>
            <a:endParaRPr sz="2850" b="1" i="0" u="none">
              <a:solidFill>
                <a:srgbClr val="0F2043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" y="2695575"/>
            <a:ext cx="8070850" cy="241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sz="1350" b="1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High-Speed Validation of Very Large Integers (up to 1024 bits) Using Randomized Algorithms</a:t>
            </a:r>
            <a:endParaRPr sz="1350" b="1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5950" y="6072187"/>
            <a:ext cx="2440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KL University Hyderabad • Slide 1</a:t>
            </a:r>
            <a:endParaRPr sz="975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48850" y="461962"/>
            <a:ext cx="2131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2043"/>
                </a:solidFill>
                <a:latin typeface="Plus Jakarta Sans"/>
              </a:rPr>
              <a:t>DSA-3 REVIEW • PROBLEM #6</a:t>
            </a:r>
            <a:endParaRPr sz="9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0550" y="4406205"/>
            <a:ext cx="1171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1024-Bit Input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0" y="4406205"/>
            <a:ext cx="1381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Small Primes Sieve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28246" y="4406205"/>
            <a:ext cx="1488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Miller–Rabin Engine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06050" y="4406205"/>
            <a:ext cx="1295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Result &amp; Latency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425" y="5848350"/>
            <a:ext cx="382190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30000"/>
                </a:solidFill>
                <a:latin typeface="Plus Jakarta Sans"/>
              </a:rPr>
              <a:t>PROJECT TEAM MEMBERS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28750" y="376237"/>
            <a:ext cx="44410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30000"/>
                </a:solidFill>
                <a:latin typeface="Plus Jakarta Sans"/>
              </a:rPr>
              <a:t>DEPARTMENT OF COMPUTER SCIENCE &amp; ENGINEERING</a:t>
            </a:r>
            <a:endParaRPr sz="97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28750" y="547687"/>
            <a:ext cx="44410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3425" y="6029325"/>
            <a:ext cx="148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043"/>
                </a:solidFill>
                <a:latin typeface="Plus Jakarta Sans"/>
              </a:rPr>
              <a:t>Harivikash Katta</a:t>
            </a:r>
            <a:endParaRPr sz="12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3425" y="6248400"/>
            <a:ext cx="1285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30000"/>
                </a:solidFill>
                <a:latin typeface="Space Mono"/>
              </a:rPr>
              <a:t>2520030203</a:t>
            </a:r>
            <a:endParaRPr sz="1050" b="1" i="0" u="none">
              <a:solidFill>
                <a:srgbClr val="A30000"/>
              </a:solidFill>
              <a:latin typeface="Space Mon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7975" y="6029325"/>
            <a:ext cx="1228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043"/>
                </a:solidFill>
                <a:latin typeface="Plus Jakarta Sans"/>
              </a:rPr>
              <a:t>Manoj Kumar</a:t>
            </a:r>
            <a:endParaRPr sz="12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47975" y="6248400"/>
            <a:ext cx="10382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30000"/>
                </a:solidFill>
                <a:latin typeface="Space Mono"/>
              </a:rPr>
              <a:t>2520030040</a:t>
            </a:r>
            <a:endParaRPr sz="1050" b="1" i="0" u="none">
              <a:solidFill>
                <a:srgbClr val="A30000"/>
              </a:solidFill>
              <a:latin typeface="Space Mono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" y="197485"/>
            <a:ext cx="1219200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5073550"/>
            <a:ext cx="11201400" cy="466725"/>
          </a:xfrm>
          <a:prstGeom prst="roundRect">
            <a:avLst>
              <a:gd name="adj" fmla="val 16326"/>
            </a:avLst>
          </a:prstGeom>
          <a:solidFill>
            <a:srgbClr val="0F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39400" y="419100"/>
            <a:ext cx="12573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1822400"/>
            <a:ext cx="5505450" cy="2314575"/>
          </a:xfrm>
          <a:prstGeom prst="roundRect">
            <a:avLst>
              <a:gd name="adj" fmla="val 32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822400"/>
            <a:ext cx="5505450" cy="2314575"/>
          </a:xfrm>
          <a:prstGeom prst="roundRect">
            <a:avLst>
              <a:gd name="adj" fmla="val 32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1663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55762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055762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34650" y="457200"/>
            <a:ext cx="1162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Abstract Overview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025" y="5206900"/>
            <a:ext cx="9487535" cy="2019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Objective:</a:t>
            </a:r>
            <a:r>
              <a:rPr sz="1125" b="0" i="0" u="none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Overcome deterministic limits by providing practical cryptographic certainty (&gt; 99.9999%) in milliseconds via randomized algorithms.</a:t>
            </a:r>
            <a:endParaRPr sz="1125" b="0" i="0" u="none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2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1575" y="323850"/>
            <a:ext cx="24407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1575" y="466725"/>
            <a:ext cx="256282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Project Abstract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0125" y="2041475"/>
            <a:ext cx="258782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A30000"/>
                </a:solidFill>
                <a:latin typeface="Plus Jakarta Sans"/>
              </a:rPr>
              <a:t>The Primality Challenge</a:t>
            </a:r>
            <a:endParaRPr sz="135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4375" y="2374850"/>
            <a:ext cx="516255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Cryptographic scale:</a:t>
            </a:r>
            <a:r>
              <a:rPr sz="1125" b="0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Asymmetric encryption (RSA) relies strictly on prime numbers up to 1024 bits (~308 decimal digits).</a:t>
            </a:r>
            <a:endParaRPr sz="1125" b="0" i="0" u="none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4375" y="2917775"/>
            <a:ext cx="516255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 failure:</a:t>
            </a:r>
            <a:r>
              <a:rPr sz="1125" b="0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Standard trial division needs O(√N) iterations, requiring billions of years and crashing server threads.</a:t>
            </a:r>
            <a:endParaRPr sz="1125" b="0" i="0" u="none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4375" y="3460700"/>
            <a:ext cx="516255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bottleneck:</a:t>
            </a:r>
            <a:r>
              <a:rPr sz="1125" b="0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Secure communication protocols require fast, on-demand key validation without computational stalls.</a:t>
            </a:r>
            <a:endParaRPr sz="1125" b="0" i="0" u="none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96075" y="2041475"/>
            <a:ext cx="25253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Our Proposed Solution</a:t>
            </a:r>
            <a:endParaRPr sz="1350" b="1" i="0" u="none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10325" y="2374850"/>
            <a:ext cx="5162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14532D"/>
                </a:solidFill>
                <a:latin typeface="Plus Jakarta Sans"/>
              </a:rPr>
              <a:t>Probabilistic testing: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Implements randomized Miller–Rabin algorithm running in O(k • log</a:t>
            </a:r>
            <a:r>
              <a:rPr sz="935" b="0" i="0" u="none">
                <a:solidFill>
                  <a:srgbClr val="14532D"/>
                </a:solidFill>
                <a:latin typeface="Plus Jakarta Sans"/>
              </a:rPr>
              <a:t>3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N) time.</a:t>
            </a:r>
            <a:endParaRPr sz="112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10325" y="2946350"/>
            <a:ext cx="516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14532D"/>
                </a:solidFill>
                <a:latin typeface="Plus Jakarta Sans"/>
              </a:rPr>
              <a:t>Sub-millisecond speed: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Validates 1024-bit candidates in under 15 ms using square-and-multiply modular math.</a:t>
            </a:r>
            <a:endParaRPr sz="112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0325" y="3489275"/>
            <a:ext cx="516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14532D"/>
                </a:solidFill>
                <a:latin typeface="Plus Jakarta Sans"/>
              </a:rPr>
              <a:t>Interactive delivery: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Full REST API and real-time developer UI displaying latency and confidence metrics.</a:t>
            </a:r>
            <a:endParaRPr sz="1125" b="0" i="0" u="none">
              <a:solidFill>
                <a:srgbClr val="14532D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" y="197485"/>
            <a:ext cx="90487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1867792"/>
            <a:ext cx="11201400" cy="1138237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302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9925" y="419100"/>
            <a:ext cx="866775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300" y="1867792"/>
            <a:ext cx="47625" cy="1138237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300" y="4083248"/>
            <a:ext cx="3619500" cy="1259085"/>
          </a:xfrm>
          <a:prstGeom prst="roundRect">
            <a:avLst>
              <a:gd name="adj" fmla="val 60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6250" y="4083248"/>
            <a:ext cx="3619500" cy="1259085"/>
          </a:xfrm>
          <a:prstGeom prst="roundRect">
            <a:avLst>
              <a:gd name="adj" fmla="val 60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200" y="4083248"/>
            <a:ext cx="3619500" cy="1259085"/>
          </a:xfrm>
          <a:prstGeom prst="roundRect">
            <a:avLst>
              <a:gd name="adj" fmla="val 60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300" y="632430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4264223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4264223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175" y="4264223"/>
            <a:ext cx="18097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25175" y="457200"/>
            <a:ext cx="771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Problem #6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425" y="2020192"/>
            <a:ext cx="11458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30000"/>
                </a:solidFill>
                <a:latin typeface="Plus Jakarta Sans"/>
              </a:rPr>
              <a:t>OFFICIAL PROBLEM STATEMENT #6</a:t>
            </a:r>
            <a:endParaRPr sz="97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3425" y="2210692"/>
            <a:ext cx="10868025" cy="86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600" b="0" i="1" u="none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“Develop a web-based service to validate very large prime numbers using randomized algorithms such as the Miller–Rabin Primality Test. The application should efficiently determine whether a given integer is prime or composite with high probability. It should support extremely large numbers up to 1024 bits and display execution time and confidence level.”</a:t>
            </a:r>
            <a:endParaRPr sz="1600" b="0" i="1" u="none">
              <a:solidFill>
                <a:srgbClr val="1E293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5300" y="6448127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4750" y="6448127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3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275" y="4549973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Input Scale: 1024 Bits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275" y="4788098"/>
            <a:ext cx="3352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Integers exceed 64-bit standard registers; requires arbitrary-precision BigInt arithmetic.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67225" y="4549973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Carmichael Numbers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67225" y="4788098"/>
            <a:ext cx="3352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Fermat test fails on pseudoprimes like 561; Miller-Rabin square roots detect them easily.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8175" y="4549973"/>
            <a:ext cx="393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Strict Timing Bounds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58175" y="4788098"/>
            <a:ext cx="3352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Live HTTP responses must return in under 20 ms without blocking the event loop.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1575" y="323850"/>
            <a:ext cx="4691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71575" y="466725"/>
            <a:ext cx="492561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Problem Statement &amp; Constraints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" y="197485"/>
            <a:ext cx="98234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4637335"/>
            <a:ext cx="11201400" cy="644425"/>
          </a:xfrm>
          <a:prstGeom prst="roundRect">
            <a:avLst>
              <a:gd name="adj" fmla="val 1182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600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72700" y="419100"/>
            <a:ext cx="15240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375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065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39400" y="4840485"/>
            <a:ext cx="1057275" cy="238125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63246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185838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2185838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185838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5" y="2185838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281088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262" y="2281088"/>
            <a:ext cx="123825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281088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825" y="2281088"/>
            <a:ext cx="1905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67950" y="457200"/>
            <a:ext cx="14287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Theoretical Background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34650" y="4878585"/>
            <a:ext cx="962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Space Mono"/>
              </a:rPr>
              <a:t>k = 40 Rounds</a:t>
            </a:r>
            <a:endParaRPr sz="900" b="1" i="0" u="none">
              <a:solidFill>
                <a:srgbClr val="15803D"/>
              </a:solidFill>
              <a:latin typeface="Space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5300" y="6448425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325225" y="6448425"/>
            <a:ext cx="657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4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275" y="2623988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Arbitrary BigInt Math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275" y="2862113"/>
            <a:ext cx="2419350" cy="34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S</a:t>
            </a:r>
            <a:r>
              <a:rPr sz="97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tandard primitive integers cap at 64 bits. BigInt handles unlimited digits in memory.</a:t>
            </a:r>
            <a:endParaRPr sz="975" b="0" i="0" u="none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14725" y="2623988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Modular Arithmetic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14725" y="2862113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Keeps intermediate calculation results bounded by (mod n), preventing memory overflow.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3175" y="2623988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Fermat's Theorem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53175" y="2862113"/>
            <a:ext cx="2419350" cy="55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States a</a:t>
            </a:r>
            <a:r>
              <a:rPr sz="810" b="0" i="0" u="none">
                <a:solidFill>
                  <a:srgbClr val="64748B"/>
                </a:solidFill>
                <a:latin typeface="Plus Jakarta Sans"/>
              </a:rPr>
              <a:t>p-1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≡ 1 (mod p) for primes; forms the bedrock of modern randomized primality testing.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91625" y="2623988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Random Witnesses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91625" y="2862113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Each random test base 'a' reduces composite probability by at least 75% per independent round.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5325" y="4780210"/>
            <a:ext cx="650899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MATHEMATICAL FOUNDATION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5325" y="4942135"/>
            <a:ext cx="6508998" cy="19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2043"/>
                </a:solidFill>
                <a:latin typeface="Plus Jakarta Sans"/>
              </a:rPr>
              <a:t>Decomposition: n − 1 = 2</a:t>
            </a:r>
            <a:r>
              <a:rPr sz="875" b="1" i="0" u="none">
                <a:solidFill>
                  <a:srgbClr val="0F2043"/>
                </a:solidFill>
                <a:latin typeface="Plus Jakarta Sans"/>
              </a:rPr>
              <a:t>s</a:t>
            </a:r>
            <a:r>
              <a:rPr sz="1050" b="1" i="0" u="none">
                <a:solidFill>
                  <a:srgbClr val="0F2043"/>
                </a:solidFill>
                <a:latin typeface="Plus Jakarta Sans"/>
              </a:rPr>
              <a:t> • d  •  Square-and-Multiply: O(log N)  •  Error: P(Error) ≤ 4</a:t>
            </a:r>
            <a:r>
              <a:rPr sz="875" b="1" i="0" u="none">
                <a:solidFill>
                  <a:srgbClr val="0F2043"/>
                </a:solidFill>
                <a:latin typeface="Plus Jakarta Sans"/>
              </a:rPr>
              <a:t>-k</a:t>
            </a:r>
            <a:endParaRPr sz="87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71575" y="323850"/>
            <a:ext cx="4976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71575" y="466725"/>
            <a:ext cx="522565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Project Prerequisites &amp; Core Theory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97485"/>
            <a:ext cx="101917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1949946"/>
            <a:ext cx="112014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0350" y="419100"/>
            <a:ext cx="12763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4023717"/>
            <a:ext cx="5505450" cy="1236612"/>
          </a:xfrm>
          <a:prstGeom prst="roundRect">
            <a:avLst>
              <a:gd name="adj" fmla="val 616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4023717"/>
            <a:ext cx="5505450" cy="1236612"/>
          </a:xfrm>
          <a:prstGeom prst="roundRect">
            <a:avLst>
              <a:gd name="adj" fmla="val 616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0" y="457200"/>
            <a:ext cx="11811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Core Fundamentals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850" y="2121396"/>
            <a:ext cx="11487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A30000"/>
                </a:solidFill>
                <a:latin typeface="Plus Jakarta Sans"/>
              </a:rPr>
              <a:t>WHAT IS THIS PROJECT?</a:t>
            </a:r>
            <a:endParaRPr sz="11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850" y="2359521"/>
            <a:ext cx="1087755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high-speed web application and REST API that accepts arbitrary-length integers (up to 1024 bits) and determines whether they are </a:t>
            </a:r>
            <a:r>
              <a:rPr sz="1125" b="1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</a:t>
            </a:r>
            <a:r>
              <a:rPr sz="1125" b="0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sz="1125" b="1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Composite</a:t>
            </a:r>
            <a:r>
              <a:rPr sz="1125" b="0" i="0" u="none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milliseconds, returning execution speed and confidence bounds.</a:t>
            </a:r>
            <a:endParaRPr sz="1125" b="0" i="0" u="none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5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275" y="4204692"/>
            <a:ext cx="2153285" cy="173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Trial Division: O(√N)</a:t>
            </a:r>
            <a:endParaRPr sz="1125" b="1" i="0" u="none">
              <a:solidFill>
                <a:srgbClr val="991B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2225" y="4204692"/>
            <a:ext cx="2207895" cy="173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i="0" u="none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Miller–Rabin Method: O(k • log</a:t>
            </a:r>
            <a:r>
              <a:rPr sz="935" i="0" u="none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125" i="0" u="none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N)</a:t>
            </a:r>
            <a:endParaRPr sz="1125" i="0" u="none">
              <a:solidFill>
                <a:srgbClr val="1665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1575" y="323850"/>
            <a:ext cx="43934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1575" y="466725"/>
            <a:ext cx="3547110" cy="276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it? &amp; WHY is it needed?</a:t>
            </a:r>
            <a:endParaRPr sz="1800" b="1" i="0" u="none">
              <a:solidFill>
                <a:srgbClr val="0F20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" y="4459485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6775" y="4461867"/>
            <a:ext cx="194500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7F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 every odd factor up to √N.</a:t>
            </a:r>
            <a:endParaRPr sz="975" b="0" i="0" u="none">
              <a:solidFill>
                <a:srgbClr val="7F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" y="4645223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6775" y="4647604"/>
            <a:ext cx="6191250" cy="2174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7F1D1D"/>
                </a:solidFill>
                <a:latin typeface="Plus Jakarta Sans"/>
              </a:rPr>
              <a:t>For 1024 bits: requires ~2</a:t>
            </a:r>
            <a:r>
              <a:rPr sz="810" b="0" i="0" u="none">
                <a:solidFill>
                  <a:srgbClr val="7F1D1D"/>
                </a:solidFill>
                <a:latin typeface="Plus Jakarta Sans"/>
              </a:rPr>
              <a:t>512</a:t>
            </a:r>
            <a:r>
              <a:rPr sz="975" b="0" i="0" u="none">
                <a:solidFill>
                  <a:srgbClr val="7F1D1D"/>
                </a:solidFill>
                <a:latin typeface="Plus Jakarta Sans"/>
              </a:rPr>
              <a:t> operations.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100" y="4862661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6775" y="4865042"/>
            <a:ext cx="6191250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7F1D1D"/>
                </a:solidFill>
                <a:latin typeface="Plus Jakarta Sans"/>
              </a:rPr>
              <a:t>Computation exceeds the age of the universe; freezes server.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6050" y="4488060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2725" y="4490442"/>
            <a:ext cx="5629275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14532D"/>
                </a:solidFill>
                <a:latin typeface="Plus Jakarta Sans"/>
              </a:rPr>
              <a:t>Tests randomized modular congruence properties.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6050" y="4673798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2725" y="4676179"/>
            <a:ext cx="5629275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14532D"/>
                </a:solidFill>
                <a:latin typeface="Plus Jakarta Sans"/>
              </a:rPr>
              <a:t>Logarithmic scaling independent of prime magnitude.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6050" y="4859535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2725" y="4861917"/>
            <a:ext cx="5629275" cy="2174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14532D"/>
                </a:solidFill>
                <a:latin typeface="Plus Jakarta Sans"/>
              </a:rPr>
              <a:t>Validates 1024-bit input in under 15 ms with error ≤ 4</a:t>
            </a:r>
            <a:r>
              <a:rPr sz="810" b="0" i="0" u="none">
                <a:solidFill>
                  <a:srgbClr val="14532D"/>
                </a:solidFill>
                <a:latin typeface="Plus Jakarta Sans"/>
              </a:rPr>
              <a:t>-40</a:t>
            </a:r>
            <a:r>
              <a:rPr sz="975" b="0" i="0" u="none">
                <a:solidFill>
                  <a:srgbClr val="14532D"/>
                </a:solidFill>
                <a:latin typeface="Plus Jakarta Sans"/>
              </a:rPr>
              <a:t>.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" y="208280"/>
            <a:ext cx="89090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82250" y="419100"/>
            <a:ext cx="13144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300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28987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62675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96362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5300" y="3642717"/>
            <a:ext cx="11201400" cy="1765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5300" y="3642717"/>
          <a:ext cx="11191872" cy="1765250"/>
        </p:xfrm>
        <a:graphic>
          <a:graphicData uri="http://schemas.openxmlformats.org/drawingml/2006/table">
            <a:tbl>
              <a:tblPr/>
              <a:tblGrid>
                <a:gridCol w="1869440"/>
                <a:gridCol w="2858084"/>
                <a:gridCol w="4666654"/>
                <a:gridCol w="1797694"/>
              </a:tblGrid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Component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DSA Used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Purpose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Complexity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1024-Bit Integers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BigInt / Arbitrary Precision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Eliminates standard 64-bit CPU register overflow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O(log N) bits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Fast Sieve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Precomputed Prime Array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Instant rejection of composite numbers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O(1)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Modular Power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Square-and-Multiply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Computes large powers without exploding memory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O(log N)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Witness Loop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Randomized Sampling (k=40)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Guarantees confidence &gt; 99.9999%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O(k • log</a:t>
                      </a:r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3</a:t>
                      </a:r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 N)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477500" y="457200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Algorithmic Pipeline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6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2539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1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892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Fast Filter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2539" y="2354758"/>
            <a:ext cx="306585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Check parity &amp; first 100 small primes in O(1).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46226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2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9580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Decomposition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46226" y="2354758"/>
            <a:ext cx="30658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Factor n − 1 = 2</a:t>
            </a:r>
            <a:r>
              <a:rPr sz="750" b="0" i="0" u="none">
                <a:solidFill>
                  <a:srgbClr val="64748B"/>
                </a:solidFill>
                <a:latin typeface="Plus Jakarta Sans"/>
              </a:rPr>
              <a:t>s</a:t>
            </a:r>
            <a:r>
              <a:rPr sz="900" b="0" i="0" u="none">
                <a:solidFill>
                  <a:srgbClr val="64748B"/>
                </a:solidFill>
                <a:latin typeface="Plus Jakarta Sans"/>
              </a:rPr>
              <a:t> • d (d is odd).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79914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3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03267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Modular Power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79914" y="2354758"/>
            <a:ext cx="30658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Square-and-multiply a</a:t>
            </a:r>
            <a:r>
              <a:rPr sz="750" b="0" i="0" u="none">
                <a:solidFill>
                  <a:srgbClr val="64748B"/>
                </a:solidFill>
                <a:latin typeface="Plus Jakarta Sans"/>
              </a:rPr>
              <a:t>d</a:t>
            </a:r>
            <a:r>
              <a:rPr sz="900" b="0" i="0" u="none">
                <a:solidFill>
                  <a:srgbClr val="64748B"/>
                </a:solidFill>
                <a:latin typeface="Plus Jakarta Sans"/>
              </a:rPr>
              <a:t> mod n.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13601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4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36955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Witness Rounds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13601" y="2354758"/>
            <a:ext cx="30658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k = 40 rounds; P(error) ≤ 4</a:t>
            </a:r>
            <a:r>
              <a:rPr sz="750" b="0" i="0" u="none">
                <a:solidFill>
                  <a:srgbClr val="64748B"/>
                </a:solidFill>
                <a:latin typeface="Plus Jakarta Sans"/>
              </a:rPr>
              <a:t>-40</a:t>
            </a:r>
            <a:r>
              <a:rPr sz="900" b="0" i="0" u="none">
                <a:solidFill>
                  <a:srgbClr val="64748B"/>
                </a:solidFill>
                <a:latin typeface="Plus Jakarta Sans"/>
              </a:rPr>
              <a:t>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71575" y="323850"/>
            <a:ext cx="5667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71575" y="466725"/>
            <a:ext cx="595074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HOW: System Workflow &amp; DSA Mapping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925" y="197485"/>
            <a:ext cx="1206500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4599086"/>
            <a:ext cx="11201400" cy="600075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67950" y="419100"/>
            <a:ext cx="14287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375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065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53725" y="4780061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268289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2268289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68289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5" y="2268289"/>
            <a:ext cx="18097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63200" y="457200"/>
            <a:ext cx="1333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Implementation Stack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48975" y="4818161"/>
            <a:ext cx="628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2043"/>
                </a:solidFill>
                <a:latin typeface="Space Mono"/>
              </a:rPr>
              <a:t>REST API</a:t>
            </a:r>
            <a:endParaRPr sz="900" b="1" i="0" u="none">
              <a:solidFill>
                <a:srgbClr val="0F2043"/>
              </a:solidFill>
              <a:latin typeface="Space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7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275" y="2554039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RSA-1024 / 2048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275" y="2773114"/>
            <a:ext cx="2419350" cy="34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Generates secure keys for TLS/HTTPS website certificates and digital signatures.</a:t>
            </a:r>
            <a:endParaRPr sz="975" b="0" i="0" u="none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14725" y="2554039"/>
            <a:ext cx="903605" cy="3473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125" b="1" i="0" u="none">
                <a:solidFill>
                  <a:srgbClr val="0F2043"/>
                </a:solidFill>
                <a:latin typeface="Plus Jakarta Sans"/>
              </a:rPr>
              <a:t>Miller-Rabin</a:t>
            </a:r>
            <a:endParaRPr lang="en-IN" sz="1125" b="1" i="0" u="none">
              <a:solidFill>
                <a:srgbClr val="0F2043"/>
              </a:solidFill>
              <a:latin typeface="Plus Jakarta Sans"/>
            </a:endParaRPr>
          </a:p>
          <a:p>
            <a:pPr algn="l"/>
            <a:endParaRPr lang="en-IN"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14725" y="2773114"/>
            <a:ext cx="2419350" cy="525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 end-to-end encrypted session keys in messaging apps like WhatsApp and Signal.</a:t>
            </a:r>
            <a:endParaRPr sz="975" b="0" i="0" u="none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3175" y="2554039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Blockchain Fields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53175" y="2773114"/>
            <a:ext cx="2419350" cy="525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 verified finite fields for elliptic curve cryptography and zero-knowledge proofs.</a:t>
            </a:r>
            <a:endParaRPr sz="975" b="0" i="0" u="none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91625" y="2554039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Universal Hashing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91625" y="2773114"/>
            <a:ext cx="2419350" cy="525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large prime moduli to guarantee uniform hash distribution and zero clustering.</a:t>
            </a:r>
            <a:endParaRPr sz="975" b="0" i="0" u="none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4375" y="4741961"/>
            <a:ext cx="7036593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30000"/>
                </a:solidFill>
                <a:latin typeface="Plus Jakarta Sans"/>
              </a:rPr>
              <a:t>WHAT ALL WE ARE USING (TECH &amp; TOOLS)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4375" y="4884836"/>
            <a:ext cx="522859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2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 (Python)</a:t>
            </a:r>
            <a:r>
              <a:rPr lang="en-IN" sz="1050" b="1" i="0" u="none">
                <a:solidFill>
                  <a:srgbClr val="0F2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JAVA</a:t>
            </a:r>
            <a:r>
              <a:rPr sz="1050" b="1" i="0" u="none">
                <a:solidFill>
                  <a:srgbClr val="0F2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HTML5 / CSS3 / JavaScript • JavaScript BigInt • VS Code </a:t>
            </a:r>
            <a:endParaRPr sz="1050" b="1" i="0" u="none">
              <a:solidFill>
                <a:srgbClr val="0F20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71575" y="323850"/>
            <a:ext cx="476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71575" y="466725"/>
            <a:ext cx="5000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WHERE: Tools, Tech Stack &amp; Utility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290" y="197485"/>
            <a:ext cx="109791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4310508"/>
            <a:ext cx="11201400" cy="904875"/>
          </a:xfrm>
          <a:prstGeom prst="roundRect">
            <a:avLst>
              <a:gd name="adj" fmla="val 8421"/>
            </a:avLst>
          </a:prstGeom>
          <a:solidFill>
            <a:srgbClr val="0F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300" y="6267152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8025" y="419100"/>
            <a:ext cx="828675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300" y="2013793"/>
            <a:ext cx="3619500" cy="1244947"/>
          </a:xfrm>
          <a:prstGeom prst="roundRect">
            <a:avLst>
              <a:gd name="adj" fmla="val 61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6250" y="2013793"/>
            <a:ext cx="3619500" cy="1244947"/>
          </a:xfrm>
          <a:prstGeom prst="roundRect">
            <a:avLst>
              <a:gd name="adj" fmla="val 61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200" y="2013793"/>
            <a:ext cx="3619500" cy="1244947"/>
          </a:xfrm>
          <a:prstGeom prst="roundRect">
            <a:avLst>
              <a:gd name="adj" fmla="val 61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300" y="626715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194768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2194768"/>
            <a:ext cx="18097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175" y="2194768"/>
            <a:ext cx="26670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63275" y="457200"/>
            <a:ext cx="733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Conclusion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309562" y="4462908"/>
            <a:ext cx="12811125" cy="347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1" u="none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“Randomized algorithms like Miller–Rabin solve computationally intractable problems by trading absolute certainty for practical,</a:t>
            </a:r>
            <a:endParaRPr sz="1125" b="1" i="1" u="none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125" b="1" i="1" u="none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cryptographic certainty in milliseconds.”</a:t>
            </a:r>
            <a:endParaRPr sz="1125" b="1" i="1" u="none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309562" y="4882008"/>
            <a:ext cx="12811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ACC15"/>
                </a:solidFill>
                <a:latin typeface="Plus Jakarta Sans"/>
              </a:rPr>
              <a:t>THANK YOU • Q&amp;A</a:t>
            </a:r>
            <a:endParaRPr sz="1125" b="1" i="0" u="none">
              <a:solidFill>
                <a:srgbClr val="FACC15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7425" y="6390977"/>
            <a:ext cx="227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8 • KL University Hyderabad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6275" y="2480518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1024-Bit Validation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275" y="2699593"/>
            <a:ext cx="33528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Direct BigInt string parsing capable of checking prime candidates up to 1024 bits in milliseconds.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67225" y="2480518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Live Telemetry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67225" y="2699593"/>
            <a:ext cx="3352800" cy="378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Real-time execution latency display and mathematical confidence percentage (1 − 4</a:t>
            </a:r>
            <a:r>
              <a:rPr sz="810" b="0" i="0" u="none">
                <a:solidFill>
                  <a:srgbClr val="64748B"/>
                </a:solidFill>
                <a:latin typeface="Plus Jakarta Sans"/>
              </a:rPr>
              <a:t>-k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).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58175" y="2480518"/>
            <a:ext cx="393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Interactive UI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8175" y="2699593"/>
            <a:ext cx="33528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Clean developer dashboard with sample presets for Carmichael numbers and large Mersenne primes.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300" y="6390977"/>
            <a:ext cx="1638300" cy="1384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Harivikash Katta (2520030203)</a:t>
            </a:r>
            <a:endParaRPr sz="900" b="1" i="0" u="none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62200" y="6390977"/>
            <a:ext cx="3429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•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52700" y="6390977"/>
            <a:ext cx="1466850" cy="1384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Manoj Kumar (2520030040)</a:t>
            </a:r>
            <a:endParaRPr sz="900" b="1" i="0" u="none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71575" y="323850"/>
            <a:ext cx="5060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71575" y="466725"/>
            <a:ext cx="3962400" cy="276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Deliverables &amp; Conclusion</a:t>
            </a:r>
            <a:endParaRPr sz="1800" b="1" i="0" u="none">
              <a:solidFill>
                <a:srgbClr val="0F20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4290" y="197485"/>
            <a:ext cx="1097915" cy="550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5786</Words>
  <Application>WPS Presentation</Application>
  <PresentationFormat>On-screen Show (4:3)</PresentationFormat>
  <Paragraphs>298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Plus Jakarta Sans</vt:lpstr>
      <vt:lpstr>Segoe Print</vt:lpstr>
      <vt:lpstr>Space Mono</vt:lpstr>
      <vt:lpstr>Calibri</vt:lpstr>
      <vt:lpstr>Microsoft YaHei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Harivikash katta</cp:lastModifiedBy>
  <cp:revision>4</cp:revision>
  <dcterms:created xsi:type="dcterms:W3CDTF">2013-01-27T09:14:00Z</dcterms:created>
  <dcterms:modified xsi:type="dcterms:W3CDTF">2026-09-18T05:48:02Z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18414FB30DE544C09A9B5AB687B3DCEE_13</vt:lpwstr>
  </property>
  <property fmtid="{D5CDD505-2E9C-101B-9397-08002B2CF9AE}" pid="3" name="KSOProductBuildVer">
    <vt:lpwstr>1033-12.1.0.28485</vt:lpwstr>
  </property>
</Properties>
</file>